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Trebuchet MS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Trebuchet MS"/>
              </a:rPr>
              <a:t>Доля побед по каналам, %  ·  G'alabalar ulushi,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Победы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Веб</c:v>
                  </c:pt>
                  <c:pt idx="1">
                    <c:v>Портал</c:v>
                  </c:pt>
                  <c:pt idx="2">
                    <c:v>Telegram</c:v>
                  </c:pt>
                  <c:pt idx="3">
                    <c:v>Прямые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</c:v>
                </c:pt>
                <c:pt idx="1">
                  <c:v>22</c:v>
                </c:pt>
                <c:pt idx="2">
                  <c:v>28</c:v>
                </c:pt>
                <c:pt idx="3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Trebuchet MS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Trebuchet MS"/>
              </a:rPr>
              <a:t>Заказ УТЙ, млн сўм · UTY buyurtmasi, mln so'm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млн сўм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930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Контракт · Shartnoma</c:v>
                  </c:pt>
                  <c:pt idx="1">
                    <c:v>Закупка · Xarid</c:v>
                  </c:pt>
                  <c:pt idx="2">
                    <c:v>Маржа · Marja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</c:v>
                </c:pt>
                <c:pt idx="1">
                  <c:v>870</c:v>
                </c:pt>
                <c:pt idx="2">
                  <c:v>330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3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Trebuchet MS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Trebuchet MS"/>
              </a:rPr>
              <a:t>Накопительно, % от контракта · Jami, shartnomadan %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Поставлено · Yetkazildi</c:v>
                </c:pt>
              </c:strCache>
            </c:strRef>
          </c:tx>
          <c:spPr>
            <a:solidFill>
              <a:srgbClr val="0F766E"/>
            </a:solidFill>
            <a:ln w="38100" cap="flat">
              <a:solidFill>
                <a:srgbClr val="0F76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66E"/>
              </a:solidFill>
              <a:ln w="9525" cap="flat">
                <a:solidFill>
                  <a:srgbClr val="0F76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Янв</c:v>
                  </c:pt>
                  <c:pt idx="1">
                    <c:v>Фев</c:v>
                  </c:pt>
                  <c:pt idx="2">
                    <c:v>Мар</c:v>
                  </c:pt>
                  <c:pt idx="3">
                    <c:v>Апр</c:v>
                  </c:pt>
                  <c:pt idx="4">
                    <c:v>Май</c:v>
                  </c:pt>
                  <c:pt idx="5">
                    <c:v>Июн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25</c:v>
                </c:pt>
                <c:pt idx="2">
                  <c:v>42</c:v>
                </c:pt>
                <c:pt idx="3">
                  <c:v>58</c:v>
                </c:pt>
                <c:pt idx="4">
                  <c:v>74</c:v>
                </c:pt>
                <c:pt idx="5">
                  <c:v>82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Оплачено · To'landi</c:v>
                </c:pt>
              </c:strCache>
            </c:strRef>
          </c:tx>
          <c:spPr>
            <a:solidFill>
              <a:srgbClr val="E8930C"/>
            </a:solidFill>
            <a:ln w="38100" cap="flat">
              <a:solidFill>
                <a:srgbClr val="E893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30C"/>
              </a:solidFill>
              <a:ln w="9525" cap="flat">
                <a:solidFill>
                  <a:srgbClr val="E893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Янв</c:v>
                  </c:pt>
                  <c:pt idx="1">
                    <c:v>Фев</c:v>
                  </c:pt>
                  <c:pt idx="2">
                    <c:v>Мар</c:v>
                  </c:pt>
                  <c:pt idx="3">
                    <c:v>Апр</c:v>
                  </c:pt>
                  <c:pt idx="4">
                    <c:v>Май</c:v>
                  </c:pt>
                  <c:pt idx="5">
                    <c:v>Июн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8</c:v>
                </c:pt>
                <c:pt idx="2">
                  <c:v>14</c:v>
                </c:pt>
                <c:pt idx="3">
                  <c:v>20</c:v>
                </c:pt>
                <c:pt idx="4">
                  <c:v>26</c:v>
                </c:pt>
                <c:pt idx="5">
                  <c:v>30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5A6B8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B2A4A"/>
                </a:solidFill>
                <a:latin typeface="Trebuchet MS"/>
              </a:defRPr>
            </a:pPr>
            <a:r>
              <a:rPr sz="1250" b="0" i="0" u="none" strike="noStrike">
                <a:solidFill>
                  <a:srgbClr val="1B2A4A"/>
                </a:solidFill>
                <a:latin typeface="Trebuchet MS"/>
              </a:rPr>
              <a:t>Маржа до налога, % · Marja,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Маржа, %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F766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кв</c:v>
                  </c:pt>
                  <c:pt idx="1">
                    <c:v>2 кв</c:v>
                  </c:pt>
                  <c:pt idx="2">
                    <c:v>3 кв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9.4</c:v>
                </c:pt>
                <c:pt idx="1">
                  <c:v>13.6</c:v>
                </c:pt>
                <c:pt idx="2">
                  <c:v>14.9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0F766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45720"/>
            <a:ext cx="12252960" cy="69494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" y="0"/>
            <a:ext cx="12252960" cy="128016"/>
          </a:xfrm>
          <a:prstGeom prst="rect">
            <a:avLst/>
          </a:prstGeom>
          <a:solidFill>
            <a:srgbClr val="E8930C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822960"/>
            <a:ext cx="822960" cy="822960"/>
          </a:xfrm>
          <a:prstGeom prst="ellipse">
            <a:avLst/>
          </a:prstGeom>
          <a:solidFill>
            <a:srgbClr val="24365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033272"/>
            <a:ext cx="402336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54480" y="822960"/>
            <a:ext cx="822960" cy="822960"/>
          </a:xfrm>
          <a:prstGeom prst="ellipse">
            <a:avLst/>
          </a:prstGeom>
          <a:solidFill>
            <a:srgbClr val="24365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1033272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" y="1920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6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STABLER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94360" y="2331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Управление тендерными заказами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594360" y="3246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buyurtmalarini boshqarish — arizadan foydagacha bitta tizimda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594360" y="3977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заявки до прибыли — один контур: CRM →  исполнение → финансы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9436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УТЙ и промышленных заказчиков · Temir yo'l va sanoat buyurtmachilari uchun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0"/>
            <a:ext cx="12252960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20624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20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32918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 это выглядит сегодня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52728" y="8412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holat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3544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Stabler · tender buyurtmalari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945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691640"/>
            <a:ext cx="566928" cy="566928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833372"/>
            <a:ext cx="283464" cy="2834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44168" y="16367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 в Telegram и на бумаге — теряются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344168" y="196596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Arizalar Telegram va qog'ozda — yo'qoladi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4360" y="2560320"/>
            <a:ext cx="566928" cy="566928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2702052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44168" y="250545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 тендеров — в голове менеджера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1344168" y="28346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holati — menejer xotirasida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94360" y="3429000"/>
            <a:ext cx="566928" cy="566928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357073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44168" y="337413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Финансы живут отдельно от заказов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44168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Moliya buyurtmalardan alohida yuritiladi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94360" y="4297680"/>
            <a:ext cx="566928" cy="566928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4439412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44168" y="42428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Маржа по заказу видна только в конце года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1344168" y="45720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Buyurtma marjasi faqat yil oxirida ko'rinadi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949440" y="1783080"/>
            <a:ext cx="4572000" cy="32918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88900" dist="25400" dir="8100000">
              <a:srgbClr val="1B2A4A">
                <a:alpha val="1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949440" y="1783080"/>
            <a:ext cx="91440" cy="3291840"/>
          </a:xfrm>
          <a:prstGeom prst="rect">
            <a:avLst/>
          </a:prstGeom>
          <a:solidFill>
            <a:srgbClr val="E8930C"/>
          </a:solidFill>
          <a:ln/>
        </p:spPr>
      </p:sp>
      <p:sp>
        <p:nvSpPr>
          <p:cNvPr id="27" name="Text 21"/>
          <p:cNvSpPr/>
          <p:nvPr/>
        </p:nvSpPr>
        <p:spPr>
          <a:xfrm>
            <a:off x="7269480" y="2057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93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Цель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269480" y="246888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Каждый заказ прозрачен —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 заявки до денег на счёте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7269480" y="37033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buyurtma so'mgacha shaffof —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arizadan hisobdagi pulgacha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0"/>
            <a:ext cx="12252960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20624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20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32918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Решение: один контур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52728" y="8412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Yechim: yagona kontur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3544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Stabler · tender buyurtmalari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945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12064" y="2194560"/>
            <a:ext cx="1993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8100000">
              <a:srgbClr val="1B2A4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2064" y="2194560"/>
            <a:ext cx="1993392" cy="8229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Shape 9"/>
          <p:cNvSpPr/>
          <p:nvPr/>
        </p:nvSpPr>
        <p:spPr>
          <a:xfrm>
            <a:off x="1207008" y="2487168"/>
            <a:ext cx="603504" cy="603504"/>
          </a:xfrm>
          <a:prstGeom prst="ellipse">
            <a:avLst/>
          </a:prstGeom>
          <a:solidFill>
            <a:srgbClr val="EEF2F9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7884" y="2638044"/>
            <a:ext cx="301752" cy="30175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85216" y="320040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Заявка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85216" y="358444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· веб · портал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5216" y="4041648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Ariza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450592" y="315468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9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2798064" y="2194560"/>
            <a:ext cx="1993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8100000">
              <a:srgbClr val="1B2A4A">
                <a:alpha val="14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98064" y="2194560"/>
            <a:ext cx="1993392" cy="8229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9" name="Shape 16"/>
          <p:cNvSpPr/>
          <p:nvPr/>
        </p:nvSpPr>
        <p:spPr>
          <a:xfrm>
            <a:off x="3493008" y="2487168"/>
            <a:ext cx="603504" cy="603504"/>
          </a:xfrm>
          <a:prstGeom prst="ellipse">
            <a:avLst/>
          </a:prstGeom>
          <a:solidFill>
            <a:srgbClr val="EEF2F9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884" y="2638044"/>
            <a:ext cx="301752" cy="30175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871216" y="320040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Тендер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2871216" y="358444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воронка в CRM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871216" y="4041648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736592" y="315468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9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1"/>
          <p:cNvSpPr/>
          <p:nvPr/>
        </p:nvSpPr>
        <p:spPr>
          <a:xfrm>
            <a:off x="5084064" y="2194560"/>
            <a:ext cx="1993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8100000">
              <a:srgbClr val="1B2A4A">
                <a:alpha val="14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084064" y="2194560"/>
            <a:ext cx="1993392" cy="8229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7" name="Shape 23"/>
          <p:cNvSpPr/>
          <p:nvPr/>
        </p:nvSpPr>
        <p:spPr>
          <a:xfrm>
            <a:off x="5779008" y="2487168"/>
            <a:ext cx="603504" cy="603504"/>
          </a:xfrm>
          <a:prstGeom prst="ellipse">
            <a:avLst/>
          </a:prstGeom>
          <a:solidFill>
            <a:srgbClr val="EEF2F9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884" y="2638044"/>
            <a:ext cx="301752" cy="30175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157216" y="320040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Контракт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5157216" y="358444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 в один клик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157216" y="4041648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Shartnoma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7022592" y="315468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9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28"/>
          <p:cNvSpPr/>
          <p:nvPr/>
        </p:nvSpPr>
        <p:spPr>
          <a:xfrm>
            <a:off x="7370064" y="2194560"/>
            <a:ext cx="1993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8100000">
              <a:srgbClr val="1B2A4A">
                <a:alpha val="14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7370064" y="2194560"/>
            <a:ext cx="1993392" cy="8229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5" name="Shape 30"/>
          <p:cNvSpPr/>
          <p:nvPr/>
        </p:nvSpPr>
        <p:spPr>
          <a:xfrm>
            <a:off x="8065008" y="2487168"/>
            <a:ext cx="603504" cy="603504"/>
          </a:xfrm>
          <a:prstGeom prst="ellipse">
            <a:avLst/>
          </a:prstGeom>
          <a:solidFill>
            <a:srgbClr val="EEF2F9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884" y="2638044"/>
            <a:ext cx="301752" cy="30175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443216" y="320040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Исполнение</a:t>
            </a:r>
            <a:endParaRPr lang="en-US" sz="1600" dirty="0"/>
          </a:p>
        </p:txBody>
      </p:sp>
      <p:sp>
        <p:nvSpPr>
          <p:cNvPr id="38" name="Text 32"/>
          <p:cNvSpPr/>
          <p:nvPr/>
        </p:nvSpPr>
        <p:spPr>
          <a:xfrm>
            <a:off x="7443216" y="358444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поставки · акты · счета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7443216" y="4041648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Ijro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9308592" y="315468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9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1" name="Shape 35"/>
          <p:cNvSpPr/>
          <p:nvPr/>
        </p:nvSpPr>
        <p:spPr>
          <a:xfrm>
            <a:off x="9656064" y="2194560"/>
            <a:ext cx="1993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8100000">
              <a:srgbClr val="1B2A4A">
                <a:alpha val="14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9656064" y="2194560"/>
            <a:ext cx="1993392" cy="82296"/>
          </a:xfrm>
          <a:prstGeom prst="rect">
            <a:avLst/>
          </a:prstGeom>
          <a:solidFill>
            <a:srgbClr val="E8930C"/>
          </a:solidFill>
          <a:ln/>
        </p:spPr>
      </p:sp>
      <p:sp>
        <p:nvSpPr>
          <p:cNvPr id="43" name="Shape 37"/>
          <p:cNvSpPr/>
          <p:nvPr/>
        </p:nvSpPr>
        <p:spPr>
          <a:xfrm>
            <a:off x="10351008" y="2487168"/>
            <a:ext cx="603504" cy="603504"/>
          </a:xfrm>
          <a:prstGeom prst="ellipse">
            <a:avLst/>
          </a:prstGeom>
          <a:solidFill>
            <a:srgbClr val="EEF2F9"/>
          </a:solidFill>
          <a:ln/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1884" y="2638044"/>
            <a:ext cx="301752" cy="301752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9729216" y="320040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Деньги</a:t>
            </a:r>
            <a:endParaRPr lang="en-US" sz="1600" dirty="0"/>
          </a:p>
        </p:txBody>
      </p:sp>
      <p:sp>
        <p:nvSpPr>
          <p:cNvPr id="46" name="Text 39"/>
          <p:cNvSpPr/>
          <p:nvPr/>
        </p:nvSpPr>
        <p:spPr>
          <a:xfrm>
            <a:off x="9729216" y="358444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· баланс · отчёты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9729216" y="4041648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 va hisobotlar</a:t>
            </a:r>
            <a:endParaRPr lang="en-US" sz="1100" dirty="0"/>
          </a:p>
        </p:txBody>
      </p:sp>
      <p:sp>
        <p:nvSpPr>
          <p:cNvPr id="48" name="Shape 41"/>
          <p:cNvSpPr/>
          <p:nvPr/>
        </p:nvSpPr>
        <p:spPr>
          <a:xfrm>
            <a:off x="512064" y="4983480"/>
            <a:ext cx="11137392" cy="685800"/>
          </a:xfrm>
          <a:prstGeom prst="rect">
            <a:avLst/>
          </a:prstGeom>
          <a:solidFill>
            <a:srgbClr val="EAF1EC"/>
          </a:solidFill>
          <a:ln/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5175504"/>
            <a:ext cx="292608" cy="292608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1170432" y="4983480"/>
            <a:ext cx="10222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шаг — реальный документ в ERPNext, а не запись в Excel.   </a:t>
            </a:r>
            <a:pPr indent="0" marL="0">
              <a:buNone/>
            </a:pPr>
            <a:r>
              <a:rPr lang="en-US" sz="12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qadam — ERPNextʼdagi haqiqiy hujjat.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0"/>
            <a:ext cx="12252960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20624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20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32918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Заявки из всех каналов — в одну воронку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52728" y="8412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kanallardan arizalar — bitta voronkaga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3544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Stabler · tender buyurtmalari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945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828800"/>
            <a:ext cx="566928" cy="566928"/>
          </a:xfrm>
          <a:prstGeom prst="ellipse">
            <a:avLst/>
          </a:prstGeom>
          <a:solidFill>
            <a:srgbClr val="EEF2F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970532"/>
            <a:ext cx="283464" cy="2834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44168" y="17739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Telegram-бот — заявка за 30 секунд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344168" y="21031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Telegram-bot — 30 soniyada ariza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4360" y="2743200"/>
            <a:ext cx="566928" cy="566928"/>
          </a:xfrm>
          <a:prstGeom prst="ellipse">
            <a:avLst/>
          </a:prstGeom>
          <a:solidFill>
            <a:srgbClr val="EEF2F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2884932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44168" y="26883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Веб-форма на сайте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1344168" y="30175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Saytdagi veb-forma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94360" y="3657600"/>
            <a:ext cx="566928" cy="566928"/>
          </a:xfrm>
          <a:prstGeom prst="ellipse">
            <a:avLst/>
          </a:prstGeom>
          <a:solidFill>
            <a:srgbClr val="EEF2F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379933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44168" y="36027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Тендерные порталы и прямые обращения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44168" y="39319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portallari va to'g'ridan-to'g'ri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94360" y="4572000"/>
            <a:ext cx="566928" cy="566928"/>
          </a:xfrm>
          <a:prstGeom prst="ellipse">
            <a:avLst/>
          </a:prstGeom>
          <a:solidFill>
            <a:srgbClr val="EEF2F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4713732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44168" y="45171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фиксируется автоматически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1344168" y="48463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 avtomatik qayd etiladi</a:t>
            </a:r>
            <a:endParaRPr lang="en-US" sz="115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6126480" y="178308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6" name="Text 19"/>
          <p:cNvSpPr/>
          <p:nvPr/>
        </p:nvSpPr>
        <p:spPr>
          <a:xfrm>
            <a:off x="6126480" y="53035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сама покажет, какой канал приносит контракты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0"/>
            <a:ext cx="12252960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20624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20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32918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Тендерная воронка — канбан в CRM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52728" y="8412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voronkasi — CRMʼda kanban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3544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Stabler · tender buyurtmalari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945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2606040" cy="3017520"/>
          </a:xfrm>
          <a:prstGeom prst="rect">
            <a:avLst/>
          </a:prstGeom>
          <a:solidFill>
            <a:srgbClr val="EC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920240"/>
            <a:ext cx="260604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92024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Новые заявки  ·  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24505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arizalar · 120 млн сўм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" y="2788920"/>
            <a:ext cx="235000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28620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Тендер №1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4944" y="31729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млн сўм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" y="3749040"/>
            <a:ext cx="235000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38221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Тендер №2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4944" y="41330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млн сўм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37560" y="1920240"/>
            <a:ext cx="2606040" cy="3017520"/>
          </a:xfrm>
          <a:prstGeom prst="rect">
            <a:avLst/>
          </a:prstGeom>
          <a:solidFill>
            <a:srgbClr val="ECF0F7"/>
          </a:solidFill>
          <a:ln/>
        </p:spPr>
      </p:sp>
      <p:sp>
        <p:nvSpPr>
          <p:cNvPr id="20" name="Shape 18"/>
          <p:cNvSpPr/>
          <p:nvPr/>
        </p:nvSpPr>
        <p:spPr>
          <a:xfrm>
            <a:off x="3337560" y="1920240"/>
            <a:ext cx="260604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3447288" y="192024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Подача  ·  2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447288" y="24505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Topshirish · 1,8 млрд сўм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65576" y="2788920"/>
            <a:ext cx="235000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75304" y="28620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75304" y="31729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 млрд сўм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65576" y="3749040"/>
            <a:ext cx="235000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75304" y="38221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575304" y="41330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 млн сўм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1920240"/>
            <a:ext cx="2606040" cy="3017520"/>
          </a:xfrm>
          <a:prstGeom prst="rect">
            <a:avLst/>
          </a:prstGeom>
          <a:solidFill>
            <a:srgbClr val="ECF0F7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0" y="1920240"/>
            <a:ext cx="2606040" cy="457200"/>
          </a:xfrm>
          <a:prstGeom prst="rect">
            <a:avLst/>
          </a:prstGeom>
          <a:solidFill>
            <a:srgbClr val="C57A06"/>
          </a:solidFill>
          <a:ln/>
        </p:spPr>
      </p:sp>
      <p:sp>
        <p:nvSpPr>
          <p:cNvPr id="31" name="Text 29"/>
          <p:cNvSpPr/>
          <p:nvPr/>
        </p:nvSpPr>
        <p:spPr>
          <a:xfrm>
            <a:off x="6327648" y="192024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Ожидание итогов  ·  2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327648" y="24505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 kutilmoqda · 2,4 млрд сўм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45936" y="2788920"/>
            <a:ext cx="235000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55664" y="28620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5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55664" y="31729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дедлайн: 24.06 · muddat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45936" y="3749040"/>
            <a:ext cx="235000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55664" y="38221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6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55664" y="41330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860 млн сўм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098280" y="1920240"/>
            <a:ext cx="2606040" cy="3017520"/>
          </a:xfrm>
          <a:prstGeom prst="rect">
            <a:avLst/>
          </a:prstGeom>
          <a:solidFill>
            <a:srgbClr val="ECF0F7"/>
          </a:solidFill>
          <a:ln/>
        </p:spPr>
      </p:sp>
      <p:sp>
        <p:nvSpPr>
          <p:cNvPr id="40" name="Shape 38"/>
          <p:cNvSpPr/>
          <p:nvPr/>
        </p:nvSpPr>
        <p:spPr>
          <a:xfrm>
            <a:off x="9098280" y="1920240"/>
            <a:ext cx="2606040" cy="457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1" name="Text 39"/>
          <p:cNvSpPr/>
          <p:nvPr/>
        </p:nvSpPr>
        <p:spPr>
          <a:xfrm>
            <a:off x="9208008" y="192024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Победа  ·  2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208008" y="24505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G'alaba · 1,2 млрд сўм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226296" y="2788920"/>
            <a:ext cx="235000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36024" y="28620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УТЙ — запчасти вагонов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336024" y="31729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 млрд сўм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226296" y="3749040"/>
            <a:ext cx="235000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36024" y="38221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 8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336024" y="41330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 подписывается · imzolanmoqda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57200" y="5257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Дедлайн подачи — на карточке, просроченные подсвечиваются. Проигрыш — в архив с причиной.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Muddati o'tganlar belgilanadi; mag'lubiyat — sababi bilan arxivga.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0"/>
            <a:ext cx="12252960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20624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20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32918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Победа превращается в контракт одним кликом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52728" y="8412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G'alaba bir klikda shartnomaga aylanadi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3544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Stabler · tender buyurtmalari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945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2011680"/>
            <a:ext cx="40233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8100000">
              <a:srgbClr val="1B2A4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011680"/>
            <a:ext cx="4023360" cy="457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ТЕНДЕР ВЫИГРАН · TENDER YUTILDI</a:t>
            </a:r>
            <a:endParaRPr lang="en-US" sz="1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9748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2697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УТЙ — запчасти подвижного состава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32588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Сумма: 1,2 млрд сўм · 48 позиций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325880" y="3410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Канал: Тендер-портал · дедлайн соблюдён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2960" y="3977640"/>
            <a:ext cx="2468880" cy="457200"/>
          </a:xfrm>
          <a:prstGeom prst="rect">
            <a:avLst/>
          </a:prstGeom>
          <a:solidFill>
            <a:srgbClr val="E8930C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Создать контракт →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92040" y="2926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9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</a:t>
            </a:r>
            <a:endParaRPr lang="en-US" sz="3600" dirty="0"/>
          </a:p>
        </p:txBody>
      </p:sp>
      <p:sp>
        <p:nvSpPr>
          <p:cNvPr id="19" name="Shape 16"/>
          <p:cNvSpPr/>
          <p:nvPr/>
        </p:nvSpPr>
        <p:spPr>
          <a:xfrm>
            <a:off x="6035040" y="201168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8100000">
              <a:srgbClr val="1B2A4A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35040" y="2011680"/>
            <a:ext cx="55321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8"/>
          <p:cNvSpPr/>
          <p:nvPr/>
        </p:nvSpPr>
        <p:spPr>
          <a:xfrm>
            <a:off x="6172200" y="2011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КОНТРАКТ (ЗАКАЗ) · SHARTNOMA</a:t>
            </a:r>
            <a:endParaRPr lang="en-US" sz="12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734056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67512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Заказчик и реквизиты  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Buyurtmachi va rekvizitlar</a:t>
            </a:r>
            <a:endParaRPr lang="en-US" sz="13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209544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675120" y="31729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48 позиций с ценами  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48 pozitsiya narxlari bilan</a:t>
            </a:r>
            <a:endParaRPr lang="en-US" sz="13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685032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675120" y="364845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контракта  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Shartnoma summasi</a:t>
            </a:r>
            <a:endParaRPr lang="en-US" sz="13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16052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675120" y="412394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с тендером — навсегда  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bilan bog'liqlik — doimiy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59436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не вводится дважды — нет ошибок перепечатки.  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 narsa ikki marta kiritilmaydi.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0"/>
            <a:ext cx="12252960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20624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20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32918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Доска исполнения: весь путь заказа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52728" y="8412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Ijro doskasi: buyurtmaning butun yo'li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3544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Stabler · tender buyurtmalari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945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1783080"/>
            <a:ext cx="1755648" cy="658368"/>
          </a:xfrm>
          <a:prstGeom prst="rect">
            <a:avLst/>
          </a:prstGeom>
          <a:solidFill>
            <a:srgbClr val="ECF0F7"/>
          </a:solidFill>
          <a:ln/>
        </p:spPr>
      </p:sp>
      <p:sp>
        <p:nvSpPr>
          <p:cNvPr id="10" name="Text 8"/>
          <p:cNvSpPr/>
          <p:nvPr/>
        </p:nvSpPr>
        <p:spPr>
          <a:xfrm>
            <a:off x="539496" y="182880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Контракт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9496" y="212140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Shartnoma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04872" y="1783080"/>
            <a:ext cx="1755648" cy="658368"/>
          </a:xfrm>
          <a:prstGeom prst="rect">
            <a:avLst/>
          </a:prstGeom>
          <a:solidFill>
            <a:srgbClr val="ECF0F7"/>
          </a:solidFill>
          <a:ln/>
        </p:spPr>
      </p:sp>
      <p:sp>
        <p:nvSpPr>
          <p:cNvPr id="13" name="Text 11"/>
          <p:cNvSpPr/>
          <p:nvPr/>
        </p:nvSpPr>
        <p:spPr>
          <a:xfrm>
            <a:off x="2404872" y="182880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Закупка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04872" y="212140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70248" y="1783080"/>
            <a:ext cx="1755648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4270248" y="182880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Поставка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70248" y="212140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Yetkazish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35624" y="1783080"/>
            <a:ext cx="1755648" cy="658368"/>
          </a:xfrm>
          <a:prstGeom prst="rect">
            <a:avLst/>
          </a:prstGeom>
          <a:solidFill>
            <a:srgbClr val="ECF0F7"/>
          </a:solidFill>
          <a:ln/>
        </p:spPr>
      </p:sp>
      <p:sp>
        <p:nvSpPr>
          <p:cNvPr id="19" name="Text 17"/>
          <p:cNvSpPr/>
          <p:nvPr/>
        </p:nvSpPr>
        <p:spPr>
          <a:xfrm>
            <a:off x="6135624" y="182880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Приёмка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35624" y="212140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Qabul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01000" y="1783080"/>
            <a:ext cx="1755648" cy="658368"/>
          </a:xfrm>
          <a:prstGeom prst="rect">
            <a:avLst/>
          </a:prstGeom>
          <a:solidFill>
            <a:srgbClr val="ECF0F7"/>
          </a:solidFill>
          <a:ln/>
        </p:spPr>
      </p:sp>
      <p:sp>
        <p:nvSpPr>
          <p:cNvPr id="22" name="Text 20"/>
          <p:cNvSpPr/>
          <p:nvPr/>
        </p:nvSpPr>
        <p:spPr>
          <a:xfrm>
            <a:off x="8001000" y="182880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Счёт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01000" y="212140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Hisob-faktura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866376" y="1783080"/>
            <a:ext cx="1755648" cy="658368"/>
          </a:xfrm>
          <a:prstGeom prst="rect">
            <a:avLst/>
          </a:prstGeom>
          <a:solidFill>
            <a:srgbClr val="ECF0F7"/>
          </a:solidFill>
          <a:ln/>
        </p:spPr>
      </p:sp>
      <p:sp>
        <p:nvSpPr>
          <p:cNvPr id="25" name="Text 23"/>
          <p:cNvSpPr/>
          <p:nvPr/>
        </p:nvSpPr>
        <p:spPr>
          <a:xfrm>
            <a:off x="9866376" y="182880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Оплата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866376" y="212140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To'lov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11880" y="2743200"/>
            <a:ext cx="49377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8100000">
              <a:srgbClr val="1B2A4A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84048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УТЙ — запчасти подвижного состава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315200" y="28986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SO-2026-031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0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1 200 000 000 сўм · 142 дня в работе · 142 kun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0480" y="35753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Поставлено · Yetkazildi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589520" y="357530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840480" y="3831336"/>
            <a:ext cx="4480560" cy="82296"/>
          </a:xfrm>
          <a:prstGeom prst="rect">
            <a:avLst/>
          </a:prstGeom>
          <a:solidFill>
            <a:srgbClr val="E4E9F2"/>
          </a:solidFill>
          <a:ln/>
        </p:spPr>
      </p:sp>
      <p:sp>
        <p:nvSpPr>
          <p:cNvPr id="34" name="Shape 32"/>
          <p:cNvSpPr/>
          <p:nvPr/>
        </p:nvSpPr>
        <p:spPr>
          <a:xfrm>
            <a:off x="3840480" y="3831336"/>
            <a:ext cx="3674059" cy="8229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5" name="Text 33"/>
          <p:cNvSpPr/>
          <p:nvPr/>
        </p:nvSpPr>
        <p:spPr>
          <a:xfrm>
            <a:off x="3840480" y="40782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Выставлено счетов · Hisob-faktura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589520" y="407822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840480" y="4334256"/>
            <a:ext cx="4480560" cy="82296"/>
          </a:xfrm>
          <a:prstGeom prst="rect">
            <a:avLst/>
          </a:prstGeom>
          <a:solidFill>
            <a:srgbClr val="E4E9F2"/>
          </a:solidFill>
          <a:ln/>
        </p:spPr>
      </p:sp>
      <p:sp>
        <p:nvSpPr>
          <p:cNvPr id="38" name="Shape 36"/>
          <p:cNvSpPr/>
          <p:nvPr/>
        </p:nvSpPr>
        <p:spPr>
          <a:xfrm>
            <a:off x="3840480" y="4334256"/>
            <a:ext cx="2688336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3840480" y="45811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Оплачено · To'landi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589520" y="458114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89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840480" y="4837176"/>
            <a:ext cx="4480560" cy="82296"/>
          </a:xfrm>
          <a:prstGeom prst="rect">
            <a:avLst/>
          </a:prstGeom>
          <a:solidFill>
            <a:srgbClr val="E4E9F2"/>
          </a:solidFill>
          <a:ln/>
        </p:spPr>
      </p:sp>
      <p:sp>
        <p:nvSpPr>
          <p:cNvPr id="42" name="Shape 40"/>
          <p:cNvSpPr/>
          <p:nvPr/>
        </p:nvSpPr>
        <p:spPr>
          <a:xfrm>
            <a:off x="3840480" y="4837176"/>
            <a:ext cx="1344168" cy="82296"/>
          </a:xfrm>
          <a:prstGeom prst="rect">
            <a:avLst/>
          </a:prstGeom>
          <a:solidFill>
            <a:srgbClr val="E8930C"/>
          </a:solidFill>
          <a:ln/>
        </p:spPr>
      </p:sp>
      <p:sp>
        <p:nvSpPr>
          <p:cNvPr id="43" name="Shape 41"/>
          <p:cNvSpPr/>
          <p:nvPr/>
        </p:nvSpPr>
        <p:spPr>
          <a:xfrm>
            <a:off x="3840480" y="5120640"/>
            <a:ext cx="4480560" cy="384048"/>
          </a:xfrm>
          <a:prstGeom prst="rect">
            <a:avLst/>
          </a:prstGeom>
          <a:solidFill>
            <a:srgbClr val="FCF2E2"/>
          </a:solidFill>
          <a:ln/>
        </p:spPr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0208" y="5202936"/>
            <a:ext cx="219456" cy="219456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4270248" y="51206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поставлено, 30% оплачено — деньги у заказчика!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94360" y="58978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Карточку двигает команда, проценты система считает сама — из реальных накладных и платежей.  </a:t>
            </a:r>
            <a:endParaRPr lang="en-US" sz="1250" dirty="0"/>
          </a:p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Kartani jamoa suradi, foizlarni tizim haqiqiy hujjatlardan hisoblaydi.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0"/>
            <a:ext cx="12252960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20624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20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32918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Календарь заказа: логистика и сроки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52728" y="8412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Buyurtma kalendari: logistika va muddatlar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3544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Stabler · tender buyurtmalari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945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62763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Пн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18488" y="162763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42616" y="162763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66744" y="162763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90872" y="162763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15000" y="162763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39128" y="162763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1920240"/>
            <a:ext cx="98755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19476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18488" y="1920240"/>
            <a:ext cx="98755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73352" y="19476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42616" y="1920240"/>
            <a:ext cx="98755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7480" y="19476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88336" y="2194560"/>
            <a:ext cx="896112" cy="365760"/>
          </a:xfrm>
          <a:prstGeom prst="rect">
            <a:avLst/>
          </a:prstGeom>
          <a:solidFill>
            <a:srgbClr val="FCF2E2"/>
          </a:solidFill>
          <a:ln/>
        </p:spPr>
      </p:sp>
      <p:sp>
        <p:nvSpPr>
          <p:cNvPr id="23" name="Text 21"/>
          <p:cNvSpPr/>
          <p:nvPr/>
        </p:nvSpPr>
        <p:spPr>
          <a:xfrm>
            <a:off x="2724912" y="21945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A6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таможне · bojxonada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66744" y="1920240"/>
            <a:ext cx="98755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21608" y="19476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90872" y="1920240"/>
            <a:ext cx="98755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45736" y="19476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36592" y="2194560"/>
            <a:ext cx="896112" cy="365760"/>
          </a:xfrm>
          <a:prstGeom prst="rect">
            <a:avLst/>
          </a:prstGeom>
          <a:solidFill>
            <a:srgbClr val="E3ECFB"/>
          </a:solidFill>
          <a:ln/>
        </p:spPr>
      </p:sp>
      <p:sp>
        <p:nvSpPr>
          <p:cNvPr id="29" name="Text 27"/>
          <p:cNvSpPr/>
          <p:nvPr/>
        </p:nvSpPr>
        <p:spPr>
          <a:xfrm>
            <a:off x="4773168" y="21945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Платёж по графику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715000" y="1920240"/>
            <a:ext cx="98755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9864" y="19476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39128" y="1920240"/>
            <a:ext cx="98755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93992" y="19476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4360" y="2670048"/>
            <a:ext cx="98755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" y="2697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618488" y="2670048"/>
            <a:ext cx="98755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73352" y="2697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664208" y="2944368"/>
            <a:ext cx="896112" cy="365760"/>
          </a:xfrm>
          <a:prstGeom prst="rect">
            <a:avLst/>
          </a:prstGeom>
          <a:solidFill>
            <a:srgbClr val="E1F0EA"/>
          </a:solidFill>
          <a:ln/>
        </p:spPr>
      </p:sp>
      <p:sp>
        <p:nvSpPr>
          <p:cNvPr id="39" name="Text 37"/>
          <p:cNvSpPr/>
          <p:nvPr/>
        </p:nvSpPr>
        <p:spPr>
          <a:xfrm>
            <a:off x="1700784" y="29443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Поставка 2 · yetkazma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642616" y="2670048"/>
            <a:ext cx="98755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97480" y="2697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66744" y="2670048"/>
            <a:ext cx="98755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21608" y="2697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712464" y="2944368"/>
            <a:ext cx="896112" cy="365760"/>
          </a:xfrm>
          <a:prstGeom prst="rect">
            <a:avLst/>
          </a:prstGeom>
          <a:solidFill>
            <a:srgbClr val="FCF2E2"/>
          </a:solidFill>
          <a:ln/>
        </p:spPr>
      </p:sp>
      <p:sp>
        <p:nvSpPr>
          <p:cNvPr id="45" name="Text 43"/>
          <p:cNvSpPr/>
          <p:nvPr/>
        </p:nvSpPr>
        <p:spPr>
          <a:xfrm>
            <a:off x="3749040" y="29443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A6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Растаможен + landed cost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690872" y="2670048"/>
            <a:ext cx="987552" cy="704088"/>
          </a:xfrm>
          <a:prstGeom prst="rect">
            <a:avLst/>
          </a:prstGeom>
          <a:solidFill>
            <a:srgbClr val="EAF1F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45736" y="2697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715000" y="2670048"/>
            <a:ext cx="98755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9864" y="2697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739128" y="2670048"/>
            <a:ext cx="98755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93992" y="2697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94360" y="3419856"/>
            <a:ext cx="98755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9224" y="34472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618488" y="3419856"/>
            <a:ext cx="98755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673352" y="34472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664208" y="3694176"/>
            <a:ext cx="896112" cy="365760"/>
          </a:xfrm>
          <a:prstGeom prst="rect">
            <a:avLst/>
          </a:prstGeom>
          <a:solidFill>
            <a:srgbClr val="EFEAF8"/>
          </a:solidFill>
          <a:ln/>
        </p:spPr>
      </p:sp>
      <p:sp>
        <p:nvSpPr>
          <p:cNvPr id="57" name="Text 55"/>
          <p:cNvSpPr/>
          <p:nvPr/>
        </p:nvSpPr>
        <p:spPr>
          <a:xfrm>
            <a:off x="1700784" y="369417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приёмки · dalolatnoma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642616" y="3419856"/>
            <a:ext cx="98755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97480" y="34472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666744" y="3419856"/>
            <a:ext cx="98755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21608" y="34472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690872" y="3419856"/>
            <a:ext cx="98755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45736" y="34472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736592" y="3694176"/>
            <a:ext cx="896112" cy="365760"/>
          </a:xfrm>
          <a:prstGeom prst="rect">
            <a:avLst/>
          </a:prstGeom>
          <a:solidFill>
            <a:srgbClr val="E3ECFB"/>
          </a:solidFill>
          <a:ln/>
        </p:spPr>
      </p:sp>
      <p:sp>
        <p:nvSpPr>
          <p:cNvPr id="65" name="Text 63"/>
          <p:cNvSpPr/>
          <p:nvPr/>
        </p:nvSpPr>
        <p:spPr>
          <a:xfrm>
            <a:off x="4773168" y="369417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счёта · to'lov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5715000" y="3419856"/>
            <a:ext cx="98755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769864" y="34472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739128" y="3419856"/>
            <a:ext cx="98755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93992" y="34472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94360" y="4169664"/>
            <a:ext cx="98755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9224" y="41970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1618488" y="4169664"/>
            <a:ext cx="98755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673352" y="41970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642616" y="4169664"/>
            <a:ext cx="98755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697480" y="41970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688336" y="4443984"/>
            <a:ext cx="896112" cy="36576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77" name="Text 75"/>
          <p:cNvSpPr/>
          <p:nvPr/>
        </p:nvSpPr>
        <p:spPr>
          <a:xfrm>
            <a:off x="2724912" y="444398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Дедлайн Lot 4!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666744" y="4169664"/>
            <a:ext cx="98755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21608" y="41970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4690872" y="4169664"/>
            <a:ext cx="98755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45736" y="41970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736592" y="4443984"/>
            <a:ext cx="896112" cy="365760"/>
          </a:xfrm>
          <a:prstGeom prst="rect">
            <a:avLst/>
          </a:prstGeom>
          <a:solidFill>
            <a:srgbClr val="E1F0EA"/>
          </a:solidFill>
          <a:ln/>
        </p:spPr>
      </p:sp>
      <p:sp>
        <p:nvSpPr>
          <p:cNvPr id="83" name="Text 81"/>
          <p:cNvSpPr/>
          <p:nvPr/>
        </p:nvSpPr>
        <p:spPr>
          <a:xfrm>
            <a:off x="4773168" y="444398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Поставка 3 · yetkazma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5715000" y="4169664"/>
            <a:ext cx="98755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769864" y="41970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739128" y="4169664"/>
            <a:ext cx="98755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793992" y="41970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594360" y="4864608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9" name="Text 87"/>
          <p:cNvSpPr/>
          <p:nvPr/>
        </p:nvSpPr>
        <p:spPr>
          <a:xfrm>
            <a:off x="795528" y="4791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Поставки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2075688" y="4864608"/>
            <a:ext cx="146304" cy="146304"/>
          </a:xfrm>
          <a:prstGeom prst="ellipse">
            <a:avLst/>
          </a:prstGeom>
          <a:solidFill>
            <a:srgbClr val="B36F07"/>
          </a:solidFill>
          <a:ln/>
        </p:spPr>
      </p:sp>
      <p:sp>
        <p:nvSpPr>
          <p:cNvPr id="91" name="Text 89"/>
          <p:cNvSpPr/>
          <p:nvPr/>
        </p:nvSpPr>
        <p:spPr>
          <a:xfrm>
            <a:off x="2276856" y="4791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Таможня · bojxona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3557016" y="4864608"/>
            <a:ext cx="146304" cy="146304"/>
          </a:xfrm>
          <a:prstGeom prst="ellipse">
            <a:avLst/>
          </a:prstGeom>
          <a:solidFill>
            <a:srgbClr val="1D4FA8"/>
          </a:solidFill>
          <a:ln/>
        </p:spPr>
      </p:sp>
      <p:sp>
        <p:nvSpPr>
          <p:cNvPr id="93" name="Text 91"/>
          <p:cNvSpPr/>
          <p:nvPr/>
        </p:nvSpPr>
        <p:spPr>
          <a:xfrm>
            <a:off x="3758184" y="4791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Оплаты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5038344" y="4864608"/>
            <a:ext cx="146304" cy="146304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95" name="Text 93"/>
          <p:cNvSpPr/>
          <p:nvPr/>
        </p:nvSpPr>
        <p:spPr>
          <a:xfrm>
            <a:off x="5239512" y="4791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Акты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6519672" y="4864608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7" name="Text 95"/>
          <p:cNvSpPr/>
          <p:nvPr/>
        </p:nvSpPr>
        <p:spPr>
          <a:xfrm>
            <a:off x="6720840" y="4791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Дедлайны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8083296" y="1874520"/>
            <a:ext cx="566928" cy="566928"/>
          </a:xfrm>
          <a:prstGeom prst="ellipse">
            <a:avLst/>
          </a:prstGeom>
          <a:solidFill>
            <a:srgbClr val="EEF2F9"/>
          </a:solidFill>
          <a:ln/>
        </p:spPr>
      </p:sp>
      <p:pic>
        <p:nvPicPr>
          <p:cNvPr id="9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5028" y="2016252"/>
            <a:ext cx="283464" cy="283464"/>
          </a:xfrm>
          <a:prstGeom prst="rect">
            <a:avLst/>
          </a:prstGeom>
        </p:spPr>
      </p:pic>
      <p:sp>
        <p:nvSpPr>
          <p:cNvPr id="100" name="Text 97"/>
          <p:cNvSpPr/>
          <p:nvPr/>
        </p:nvSpPr>
        <p:spPr>
          <a:xfrm>
            <a:off x="8833104" y="18196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где груз: в пути, на таможне</a:t>
            </a:r>
            <a:endParaRPr lang="en-US" sz="1450" dirty="0"/>
          </a:p>
        </p:txBody>
      </p:sp>
      <p:sp>
        <p:nvSpPr>
          <p:cNvPr id="101" name="Text 98"/>
          <p:cNvSpPr/>
          <p:nvPr/>
        </p:nvSpPr>
        <p:spPr>
          <a:xfrm>
            <a:off x="8833104" y="21488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 qayerda: yo'lda, bojxonada</a:t>
            </a:r>
            <a:endParaRPr lang="en-US" sz="1150" dirty="0"/>
          </a:p>
        </p:txBody>
      </p:sp>
      <p:sp>
        <p:nvSpPr>
          <p:cNvPr id="102" name="Shape 99"/>
          <p:cNvSpPr/>
          <p:nvPr/>
        </p:nvSpPr>
        <p:spPr>
          <a:xfrm>
            <a:off x="8083296" y="2788920"/>
            <a:ext cx="566928" cy="566928"/>
          </a:xfrm>
          <a:prstGeom prst="ellipse">
            <a:avLst/>
          </a:prstGeom>
          <a:solidFill>
            <a:srgbClr val="EEF2F9"/>
          </a:solidFill>
          <a:ln/>
        </p:spPr>
      </p:sp>
      <p:pic>
        <p:nvPicPr>
          <p:cNvPr id="10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5028" y="2930652"/>
            <a:ext cx="283464" cy="283464"/>
          </a:xfrm>
          <a:prstGeom prst="rect">
            <a:avLst/>
          </a:prstGeom>
        </p:spPr>
      </p:pic>
      <p:sp>
        <p:nvSpPr>
          <p:cNvPr id="104" name="Text 100"/>
          <p:cNvSpPr/>
          <p:nvPr/>
        </p:nvSpPr>
        <p:spPr>
          <a:xfrm>
            <a:off x="8833104" y="27340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Растаможка и фрахт — сразу в себестоимость</a:t>
            </a:r>
            <a:endParaRPr lang="en-US" sz="1450" dirty="0"/>
          </a:p>
        </p:txBody>
      </p:sp>
      <p:sp>
        <p:nvSpPr>
          <p:cNvPr id="105" name="Text 101"/>
          <p:cNvSpPr/>
          <p:nvPr/>
        </p:nvSpPr>
        <p:spPr>
          <a:xfrm>
            <a:off x="8833104" y="30632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Bojxona va fraxt — darhol tannarxga</a:t>
            </a:r>
            <a:endParaRPr lang="en-US" sz="1150" dirty="0"/>
          </a:p>
        </p:txBody>
      </p:sp>
      <p:sp>
        <p:nvSpPr>
          <p:cNvPr id="106" name="Shape 102"/>
          <p:cNvSpPr/>
          <p:nvPr/>
        </p:nvSpPr>
        <p:spPr>
          <a:xfrm>
            <a:off x="8083296" y="3703320"/>
            <a:ext cx="566928" cy="566928"/>
          </a:xfrm>
          <a:prstGeom prst="ellipse">
            <a:avLst/>
          </a:prstGeom>
          <a:solidFill>
            <a:srgbClr val="EEF2F9"/>
          </a:solidFill>
          <a:ln/>
        </p:spPr>
      </p:sp>
      <p:pic>
        <p:nvPicPr>
          <p:cNvPr id="10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5028" y="3845052"/>
            <a:ext cx="283464" cy="283464"/>
          </a:xfrm>
          <a:prstGeom prst="rect">
            <a:avLst/>
          </a:prstGeom>
        </p:spPr>
      </p:pic>
      <p:sp>
        <p:nvSpPr>
          <p:cNvPr id="108" name="Text 103"/>
          <p:cNvSpPr/>
          <p:nvPr/>
        </p:nvSpPr>
        <p:spPr>
          <a:xfrm>
            <a:off x="8833104" y="36484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Сроки поставок и оплат — без сюрпризов</a:t>
            </a:r>
            <a:endParaRPr lang="en-US" sz="1450" dirty="0"/>
          </a:p>
        </p:txBody>
      </p:sp>
      <p:sp>
        <p:nvSpPr>
          <p:cNvPr id="109" name="Text 104"/>
          <p:cNvSpPr/>
          <p:nvPr/>
        </p:nvSpPr>
        <p:spPr>
          <a:xfrm>
            <a:off x="8833104" y="39776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Muddatlar — kutilmagan holatlarsiz</a:t>
            </a:r>
            <a:endParaRPr lang="en-US" sz="1150" dirty="0"/>
          </a:p>
        </p:txBody>
      </p:sp>
      <p:sp>
        <p:nvSpPr>
          <p:cNvPr id="110" name="Shape 105"/>
          <p:cNvSpPr/>
          <p:nvPr/>
        </p:nvSpPr>
        <p:spPr>
          <a:xfrm>
            <a:off x="8083296" y="4617720"/>
            <a:ext cx="566928" cy="566928"/>
          </a:xfrm>
          <a:prstGeom prst="ellipse">
            <a:avLst/>
          </a:prstGeom>
          <a:solidFill>
            <a:srgbClr val="EEF2F9"/>
          </a:solidFill>
          <a:ln/>
        </p:spPr>
      </p:sp>
      <p:pic>
        <p:nvPicPr>
          <p:cNvPr id="1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028" y="4759452"/>
            <a:ext cx="283464" cy="283464"/>
          </a:xfrm>
          <a:prstGeom prst="rect">
            <a:avLst/>
          </a:prstGeom>
        </p:spPr>
      </p:pic>
      <p:sp>
        <p:nvSpPr>
          <p:cNvPr id="112" name="Text 106"/>
          <p:cNvSpPr/>
          <p:nvPr/>
        </p:nvSpPr>
        <p:spPr>
          <a:xfrm>
            <a:off x="8833104" y="45628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Просроченное подсвечивается само</a:t>
            </a:r>
            <a:endParaRPr lang="en-US" sz="1450" dirty="0"/>
          </a:p>
        </p:txBody>
      </p:sp>
      <p:sp>
        <p:nvSpPr>
          <p:cNvPr id="113" name="Text 107"/>
          <p:cNvSpPr/>
          <p:nvPr/>
        </p:nvSpPr>
        <p:spPr>
          <a:xfrm>
            <a:off x="8833104" y="48920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Kechikkanlar o'zi belgilanadi</a:t>
            </a:r>
            <a:endParaRPr lang="en-US" sz="1150" dirty="0"/>
          </a:p>
        </p:txBody>
      </p:sp>
      <p:sp>
        <p:nvSpPr>
          <p:cNvPr id="114" name="Text 108"/>
          <p:cNvSpPr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событие привязано к заказу и документу — клик открывает карточку.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voqea buyurtmaga bog'langan.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0"/>
            <a:ext cx="12252960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20624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20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32918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Финансы каждого заказа — живые цифры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52728" y="8412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buyurtma moliyasi — jonli raqamlar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3544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Stabler · tender buyurtmalari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945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94360" y="1783080"/>
          <a:ext cx="58521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766560" y="1783080"/>
            <a:ext cx="4800600" cy="13716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88900" dist="25400" dir="8100000">
              <a:srgbClr val="1B2A4A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95160" y="19202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93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27,5%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9098280" y="1965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маржа заказа — видна в момент закупки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buyurtma marjasi — xarid paytidayoq ko'rinadi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766560" y="3520440"/>
            <a:ext cx="566928" cy="566928"/>
          </a:xfrm>
          <a:prstGeom prst="ellipse">
            <a:avLst/>
          </a:prstGeom>
          <a:solidFill>
            <a:srgbClr val="EEF2F9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292" y="3662172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16368" y="34655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Закупки привязаны к заказу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7516368" y="379476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Xaridlar buyurtmaga bog'langan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766560" y="4297680"/>
            <a:ext cx="566928" cy="566928"/>
          </a:xfrm>
          <a:prstGeom prst="ellipse">
            <a:avLst/>
          </a:prstGeom>
          <a:solidFill>
            <a:srgbClr val="EEF2F9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292" y="443941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516368" y="42428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Маржа — только для руководителя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7516368" y="45720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Marja — faqat rahbarga ko'rinadi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766560" y="5074920"/>
            <a:ext cx="566928" cy="566928"/>
          </a:xfrm>
          <a:prstGeom prst="ellipse">
            <a:avLst/>
          </a:prstGeom>
          <a:solidFill>
            <a:srgbClr val="EEF2F9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292" y="5216652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16368" y="50200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 обновляются с каждым документом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516368" y="53492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Raqamlar har bir hujjat bilan yangilanadi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0"/>
            <a:ext cx="12252960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20624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20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32918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Приёмка: акты под контролем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52728" y="8412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Qabul: dalolatnomalar nazoratda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3544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Stabler · tender buyurtmalari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945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828800"/>
            <a:ext cx="566928" cy="566928"/>
          </a:xfrm>
          <a:prstGeom prst="ellipse">
            <a:avLst/>
          </a:prstGeom>
          <a:solidFill>
            <a:srgbClr val="EEF2F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970532"/>
            <a:ext cx="283464" cy="2834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44168" y="17739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приёмки-передачи печатается из системы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344168" y="21031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Dalolatnoma tizimdan chop etiladi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4360" y="2697480"/>
            <a:ext cx="566928" cy="566928"/>
          </a:xfrm>
          <a:prstGeom prst="ellipse">
            <a:avLst/>
          </a:prstGeom>
          <a:solidFill>
            <a:srgbClr val="EEF2F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2839212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44168" y="26426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Подписанный скан прикрепляется к поставке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1344168" y="29718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Imzolangan nusxa yetkazmaga biriktiriladi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94360" y="3566160"/>
            <a:ext cx="566928" cy="566928"/>
          </a:xfrm>
          <a:prstGeom prst="ellipse">
            <a:avLst/>
          </a:prstGeom>
          <a:solidFill>
            <a:srgbClr val="EEF2F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37078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44168" y="35112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 не уйдёт без акта — система предупредит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44168" y="3840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Dalolatnomasiz hisob-faktura ketmaydi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94360" y="4434840"/>
            <a:ext cx="566928" cy="566928"/>
          </a:xfrm>
          <a:prstGeom prst="ellipse">
            <a:avLst/>
          </a:prstGeom>
          <a:solidFill>
            <a:srgbClr val="EEF2F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4576572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44168" y="43799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по каждой партии поставки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1344168" y="47091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partiya tarixi saqlanadi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7040880" y="1828800"/>
            <a:ext cx="44805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8100000">
              <a:srgbClr val="1B2A4A">
                <a:alpha val="1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040880" y="1828800"/>
            <a:ext cx="448056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1"/>
          <p:cNvSpPr/>
          <p:nvPr/>
        </p:nvSpPr>
        <p:spPr>
          <a:xfrm>
            <a:off x="7178040" y="1828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Поставки по заказу · Yetkazmalar</a:t>
            </a:r>
            <a:endParaRPr lang="en-US" sz="12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2560320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72668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Поставка 1 — 12.03.2026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7726680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подписан · imzolangan</a:t>
            </a:r>
            <a:endParaRPr lang="en-US" sz="105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3429000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72668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Поставка 2 — 28.04.2026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7726680" y="3685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подписан · imzolangan</a:t>
            </a:r>
            <a:endParaRPr lang="en-US" sz="105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0" y="4297680"/>
            <a:ext cx="310896" cy="31089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72668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Поставка 3 — 02.06.2026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7726680" y="4553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не подписан! · imzolanmagan!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59436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казначейства «поставлено» не существует без «принято».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G'aznachilik uchun «qabul qilinmagan» — «yetkazilmagan» demakdir.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0"/>
            <a:ext cx="12252960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20624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20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32918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Оплаты казначейства: разрыв виден сразу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52728" y="8412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G'aznachilik to'lovlari: farq darhol ko'rinadi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3544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Stabler · tender buyurtmalari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945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94360" y="1783080"/>
          <a:ext cx="6400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5989320" y="2542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89320" y="4224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0" y="1783080"/>
            <a:ext cx="4251960" cy="1463040"/>
          </a:xfrm>
          <a:prstGeom prst="rect">
            <a:avLst/>
          </a:prstGeom>
          <a:solidFill>
            <a:srgbClr val="FCF2E2"/>
          </a:solidFill>
          <a:ln/>
        </p:spPr>
      </p:sp>
      <p:sp>
        <p:nvSpPr>
          <p:cNvPr id="13" name="Shape 10"/>
          <p:cNvSpPr/>
          <p:nvPr/>
        </p:nvSpPr>
        <p:spPr>
          <a:xfrm>
            <a:off x="7315200" y="1783080"/>
            <a:ext cx="91440" cy="1463040"/>
          </a:xfrm>
          <a:prstGeom prst="rect">
            <a:avLst/>
          </a:prstGeom>
          <a:solidFill>
            <a:srgbClr val="E8930C"/>
          </a:solidFill>
          <a:ln/>
        </p:spPr>
      </p:sp>
      <p:sp>
        <p:nvSpPr>
          <p:cNvPr id="14" name="Text 11"/>
          <p:cNvSpPr/>
          <p:nvPr/>
        </p:nvSpPr>
        <p:spPr>
          <a:xfrm>
            <a:off x="7543800" y="19202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A6A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52%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9098280" y="1938528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6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контракта поставлено, но не оплачено — это ваши деньги у заказчика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315200" y="3657600"/>
            <a:ext cx="566928" cy="566928"/>
          </a:xfrm>
          <a:prstGeom prst="ellipse">
            <a:avLst/>
          </a:prstGeom>
          <a:solidFill>
            <a:srgbClr val="EEF2F9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932" y="3799332"/>
            <a:ext cx="283464" cy="28346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065008" y="36027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Просрочка по каждому счёту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8065008" y="39319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hisob bo'yicha kechikish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315200" y="4434840"/>
            <a:ext cx="566928" cy="566928"/>
          </a:xfrm>
          <a:prstGeom prst="ellipse">
            <a:avLst/>
          </a:prstGeom>
          <a:solidFill>
            <a:srgbClr val="EEF2F9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932" y="4576572"/>
            <a:ext cx="283464" cy="2834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065008" y="43799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Сигнал: поставлено намного больше оплаченного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8065008" y="47091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yetkazilgan to'langandan ancha ko'p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315200" y="5212080"/>
            <a:ext cx="566928" cy="566928"/>
          </a:xfrm>
          <a:prstGeom prst="ellipse">
            <a:avLst/>
          </a:prstGeom>
          <a:solidFill>
            <a:srgbClr val="EEF2F9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5353812"/>
            <a:ext cx="283464" cy="28346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065008" y="51572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поступлений по графику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8065008" y="54864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Tushumlar prognozi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0"/>
            <a:ext cx="12252960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20624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20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32918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Отчётность из тех же данных — без Excel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52728" y="8412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Hisobotlar — o'sha maʼlumotlardan, Excelsiz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3544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Stabler · tender buyurtmalari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945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82880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8100000">
              <a:srgbClr val="1B2A4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057400"/>
            <a:ext cx="603504" cy="603504"/>
          </a:xfrm>
          <a:prstGeom prst="ellipse">
            <a:avLst/>
          </a:prstGeom>
          <a:solidFill>
            <a:srgbClr val="EEF2F9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2208276"/>
            <a:ext cx="301752" cy="3017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P&amp;L по каждому заказу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22960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Выручка, себестоимость, маржа тендера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22960" y="3611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tender bo'yicha foyda-zarar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43400" y="182880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8100000">
              <a:srgbClr val="1B2A4A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0" y="2057400"/>
            <a:ext cx="603504" cy="603504"/>
          </a:xfrm>
          <a:prstGeom prst="ellipse">
            <a:avLst/>
          </a:prstGeom>
          <a:solidFill>
            <a:srgbClr val="EEF2F9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6" y="2208276"/>
            <a:ext cx="301752" cy="30175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0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Баланс и движение денег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4572000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Активы, долги, касса — в один клик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572000" y="3611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Balans va pul oqimi — bir klikda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092440" y="182880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8100000">
              <a:srgbClr val="1B2A4A">
                <a:alpha val="14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321040" y="2057400"/>
            <a:ext cx="603504" cy="603504"/>
          </a:xfrm>
          <a:prstGeom prst="ellipse">
            <a:avLst/>
          </a:prstGeom>
          <a:solidFill>
            <a:srgbClr val="EEF2F9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916" y="2208276"/>
            <a:ext cx="301752" cy="30175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21040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Дебиторка по заказчикам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8321040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Кто, сколько и как давно должен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8321040" y="3611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Kim, qancha va qachondan beri qarzdor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94360" y="4526280"/>
            <a:ext cx="10972800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Text 23"/>
          <p:cNvSpPr/>
          <p:nvPr/>
        </p:nvSpPr>
        <p:spPr>
          <a:xfrm>
            <a:off x="914400" y="46177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Доска, карточки и отчёты читают один и тот же главный регистр (GL).  </a:t>
            </a:r>
            <a:endParaRPr lang="en-US" sz="1450" dirty="0"/>
          </a:p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Doska, kartalar va hisobotlar — bitta bosh registrdan. Raqamlar hech qachon «ajralib ketmaydi».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0"/>
            <a:ext cx="12252960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20624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20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32918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Отчёт о прибылях и убытках — год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52728" y="8412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 va zarar — yil bo'yicha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3544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Stabler · tender buyurtmalari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945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69494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55448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Статья · Modda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2025, млн сўм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Выручка по контрактам · Shartnoma tushumi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14 600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Закупка товара · Tovar xaridi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(9 780)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Таможня, логистика (landed cost) · Bojxona, logistika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(1 170)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Валовая прибыль · Yalpi foyda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3 650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Зарплата · Ish haqi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(1 080)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Аренда, транспорт · Ijara, transport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(420)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Банк и прочие расходы · Bank va boshqalar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(310)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Прибыль до налога · Soliqgacha foyda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1 840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Налог на прибыль · Foyda solig'i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(276)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Чистая прибыль · Sof foyda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1 564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955280" y="1691640"/>
            <a:ext cx="3611880" cy="105156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88900" dist="25400" dir="8100000">
              <a:srgbClr val="1B2A4A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183880" y="18105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14,6 млрд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18388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· tushum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955280" y="2926080"/>
            <a:ext cx="3611880" cy="1051560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14" name="Text 11"/>
          <p:cNvSpPr/>
          <p:nvPr/>
        </p:nvSpPr>
        <p:spPr>
          <a:xfrm>
            <a:off x="8183880" y="30449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1,56 млрд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183880" y="3520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чистая прибыль · sof foyda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955280" y="4160520"/>
            <a:ext cx="3611880" cy="1051560"/>
          </a:xfrm>
          <a:prstGeom prst="rect">
            <a:avLst/>
          </a:prstGeom>
          <a:solidFill>
            <a:srgbClr val="FCF2E2"/>
          </a:solidFill>
          <a:ln/>
        </p:spPr>
      </p:sp>
      <p:sp>
        <p:nvSpPr>
          <p:cNvPr id="17" name="Text 14"/>
          <p:cNvSpPr/>
          <p:nvPr/>
        </p:nvSpPr>
        <p:spPr>
          <a:xfrm>
            <a:off x="8183880" y="42793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A6A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10,7%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183880" y="4754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6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чистая маржа · sof marja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436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Таможня и логистика — отдельной строкой: landed cost не растворяется в «прочих расходах».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0"/>
            <a:ext cx="12252960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20624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20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32918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P&amp;L по кварталам — динамика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52728" y="8412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Choraklar bo'yicha P&amp;L — dinamika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3544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Stabler · tender buyurtmalari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945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667512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097280"/>
                <a:gridCol w="109728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Статья · Modda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кв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кв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кв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Выручка · Tushum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3 720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Себестоимость · Tannarx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(2 390)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(2 770)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(2 985)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Валовая прибыль · Yalpi foyda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Операционные расходы · Operatsion xarajatlar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(420)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(445)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(460)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Прибыль до налога · Soliqgacha foyda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Маржа до налога, % · Marja,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0" descr=""/>
          <p:cNvGraphicFramePr/>
          <p:nvPr/>
        </p:nvGraphicFramePr>
        <p:xfrm>
          <a:off x="7680960" y="1783080"/>
          <a:ext cx="3886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7"/>
          <p:cNvSpPr/>
          <p:nvPr/>
        </p:nvSpPr>
        <p:spPr>
          <a:xfrm>
            <a:off x="59436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периодов — месяц, квартал, год: один клик, без сводных таблиц в Excel.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0"/>
            <a:ext cx="12252960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20624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20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32918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P&amp;L по каждому контракту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52728" y="8412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shartnoma bo'yicha P&amp;L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3544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Stabler · tender buyurtmalari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945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109728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920240"/>
                <a:gridCol w="2011680"/>
                <a:gridCol w="1920240"/>
                <a:gridCol w="18288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Статья · Modda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УТЙ — запчасти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УТЙ — ремкомплекты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Промзавод — насосы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 · Jami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Выручка · Tushum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2 700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Закупка товара · Tovar xaridi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(780)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(462)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(601)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(1 843)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Таможня и логистика · Bojxona va logistika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(90)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(210)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Валовая прибыль · Yalpi foyda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Маржа, % · Marja,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89204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4800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колонка собирается автоматически из документов заказа: закупки, растаможка, поставки, счета.  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ustun buyurtma hujjatlaridan avtomatik yig'iladi — qo'lda hisob yo'q.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9436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6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 сразу: ремкомплекты — наименее выгодный контракт. В следующем тендере — другая цена.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0"/>
            <a:ext cx="12252960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20624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20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32918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Баланс — на 31.12.2025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52728" y="8412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Balans — 31.12.2025 holatiga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3544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Stabler · tender buyurtmalari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945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53949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4630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АКТИВЫ · AKTIVLAR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млн сўм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Деньги в кассе и банке · Pul mablag'lari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Дебиторка заказчиков · Debitorlik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2 540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Запасы и товары в пути · Zaxiralar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1 870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Основные средства · Asosiy vositalar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 активы · Jami aktivlar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6 030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828800"/>
          <a:ext cx="53949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4630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ПАССИВЫ · PASSIVLAR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млн сўм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Кредиторка поставщикам · Kreditorlik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1 690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Авансы заказчиков · Buyurtmachi avanslari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Налоги к уплате · To'lanadigan soliqlar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Капитал и прибыль · Kapital va foyda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3 740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 пассивы · Jami passivlar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6 030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94360" y="4709160"/>
            <a:ext cx="11155680" cy="548640"/>
          </a:xfrm>
          <a:prstGeom prst="rect">
            <a:avLst/>
          </a:prstGeom>
          <a:solidFill>
            <a:srgbClr val="EAF1EC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84632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47091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 = Пассив — сходится автоматически, потому что каждый документ балансирует в момент проведения.  </a:t>
            </a:r>
            <a:pPr indent="0" marL="0">
              <a:buNone/>
            </a:pPr>
            <a:r>
              <a:rPr lang="en-US" sz="11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 = Passiv — har bir hujjat o'tkazilganda balanslanadi.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9436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Дебиторка 2,54 млрд — почти вся в казначействе: баланс показывает, где «застряли» деньги компании.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0"/>
            <a:ext cx="12252960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20624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20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32918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Бизнес-процесс: кто что делает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52728" y="8412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Biznes-jarayon: kim nima qiladi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3544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Stabler · tender buyurtmalari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945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627632"/>
            <a:ext cx="1097280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627632"/>
            <a:ext cx="2103120" cy="1024128"/>
          </a:xfrm>
          <a:prstGeom prst="rect">
            <a:avLst/>
          </a:prstGeom>
          <a:solidFill>
            <a:srgbClr val="EFEAF8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1792224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3E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Тендерный менеджер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04088" y="217627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menejeri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810512"/>
            <a:ext cx="2286000" cy="658368"/>
          </a:xfrm>
          <a:prstGeom prst="rect">
            <a:avLst/>
          </a:prstGeom>
          <a:solidFill>
            <a:srgbClr val="EFEAF8"/>
          </a:solidFill>
          <a:ln w="9525">
            <a:solidFill>
              <a:srgbClr val="5B3E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4952" y="1993392"/>
            <a:ext cx="292608" cy="292608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15" name="Text 13"/>
          <p:cNvSpPr/>
          <p:nvPr/>
        </p:nvSpPr>
        <p:spPr>
          <a:xfrm>
            <a:off x="3044952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10712" y="1865376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и тендер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10712" y="217627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ariza va tender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1810512"/>
            <a:ext cx="2286000" cy="658368"/>
          </a:xfrm>
          <a:prstGeom prst="rect">
            <a:avLst/>
          </a:prstGeom>
          <a:solidFill>
            <a:srgbClr val="EFEAF8"/>
          </a:solidFill>
          <a:ln w="9525">
            <a:solidFill>
              <a:srgbClr val="5B3E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59552" y="1993392"/>
            <a:ext cx="292608" cy="292608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20" name="Text 18"/>
          <p:cNvSpPr/>
          <p:nvPr/>
        </p:nvSpPr>
        <p:spPr>
          <a:xfrm>
            <a:off x="5559552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25312" y="1865376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 · дедлайн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25312" y="217627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topshirish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001000" y="1810512"/>
            <a:ext cx="2286000" cy="658368"/>
          </a:xfrm>
          <a:prstGeom prst="rect">
            <a:avLst/>
          </a:prstGeom>
          <a:solidFill>
            <a:srgbClr val="EFEAF8"/>
          </a:solidFill>
          <a:ln w="9525">
            <a:solidFill>
              <a:srgbClr val="5B3E9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74152" y="1993392"/>
            <a:ext cx="292608" cy="292608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25" name="Text 23"/>
          <p:cNvSpPr/>
          <p:nvPr/>
        </p:nvSpPr>
        <p:spPr>
          <a:xfrm>
            <a:off x="8074152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39912" y="1865376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 (SO)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39912" y="217627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shartnoma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" y="2761488"/>
            <a:ext cx="1097280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2761488"/>
            <a:ext cx="2103120" cy="1024128"/>
          </a:xfrm>
          <a:prstGeom prst="rect">
            <a:avLst/>
          </a:prstGeom>
          <a:solidFill>
            <a:srgbClr val="E3ECFB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" y="292608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Снабжение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04088" y="331012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D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Ta'minot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43400" y="2944368"/>
            <a:ext cx="2286000" cy="658368"/>
          </a:xfrm>
          <a:prstGeom prst="rect">
            <a:avLst/>
          </a:prstGeom>
          <a:solidFill>
            <a:srgbClr val="E3ECFB"/>
          </a:solidFill>
          <a:ln w="9525">
            <a:solidFill>
              <a:srgbClr val="1D4F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16552" y="3127248"/>
            <a:ext cx="292608" cy="292608"/>
          </a:xfrm>
          <a:prstGeom prst="ellipse">
            <a:avLst/>
          </a:prstGeom>
          <a:solidFill>
            <a:srgbClr val="1D4FA8"/>
          </a:solidFill>
          <a:ln/>
        </p:spPr>
      </p:sp>
      <p:sp>
        <p:nvSpPr>
          <p:cNvPr id="34" name="Text 32"/>
          <p:cNvSpPr/>
          <p:nvPr/>
        </p:nvSpPr>
        <p:spPr>
          <a:xfrm>
            <a:off x="4416552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82312" y="299923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Закупка (PO)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82312" y="331012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58000" y="2944368"/>
            <a:ext cx="2286000" cy="658368"/>
          </a:xfrm>
          <a:prstGeom prst="rect">
            <a:avLst/>
          </a:prstGeom>
          <a:solidFill>
            <a:srgbClr val="E3ECFB"/>
          </a:solidFill>
          <a:ln w="9525">
            <a:solidFill>
              <a:srgbClr val="1D4FA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31152" y="3127248"/>
            <a:ext cx="292608" cy="292608"/>
          </a:xfrm>
          <a:prstGeom prst="ellipse">
            <a:avLst/>
          </a:prstGeom>
          <a:solidFill>
            <a:srgbClr val="1D4FA8"/>
          </a:solidFill>
          <a:ln/>
        </p:spPr>
      </p:sp>
      <p:sp>
        <p:nvSpPr>
          <p:cNvPr id="39" name="Text 37"/>
          <p:cNvSpPr/>
          <p:nvPr/>
        </p:nvSpPr>
        <p:spPr>
          <a:xfrm>
            <a:off x="6931152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296912" y="299923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Таможня · landed cost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96912" y="331012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bojxona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94360" y="3895344"/>
            <a:ext cx="1097280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4360" y="3895344"/>
            <a:ext cx="2103120" cy="1024128"/>
          </a:xfrm>
          <a:prstGeom prst="rect">
            <a:avLst/>
          </a:prstGeom>
          <a:solidFill>
            <a:srgbClr val="E1F0EA"/>
          </a:solidFill>
          <a:ln/>
        </p:spPr>
      </p:sp>
      <p:sp>
        <p:nvSpPr>
          <p:cNvPr id="44" name="Text 42"/>
          <p:cNvSpPr/>
          <p:nvPr/>
        </p:nvSpPr>
        <p:spPr>
          <a:xfrm>
            <a:off x="704088" y="4059936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Склад и логистика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04088" y="444398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Ombor va logistika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715000" y="4078224"/>
            <a:ext cx="2286000" cy="658368"/>
          </a:xfrm>
          <a:prstGeom prst="rect">
            <a:avLst/>
          </a:prstGeom>
          <a:solidFill>
            <a:srgbClr val="E1F0EA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88152" y="4261104"/>
            <a:ext cx="292608" cy="29260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8" name="Text 46"/>
          <p:cNvSpPr/>
          <p:nvPr/>
        </p:nvSpPr>
        <p:spPr>
          <a:xfrm>
            <a:off x="5788152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153912" y="4133088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Приёмка товара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153912" y="444398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qabul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229600" y="4078224"/>
            <a:ext cx="2286000" cy="658368"/>
          </a:xfrm>
          <a:prstGeom prst="rect">
            <a:avLst/>
          </a:prstGeom>
          <a:solidFill>
            <a:srgbClr val="E1F0EA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02752" y="4261104"/>
            <a:ext cx="292608" cy="29260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3" name="Text 51"/>
          <p:cNvSpPr/>
          <p:nvPr/>
        </p:nvSpPr>
        <p:spPr>
          <a:xfrm>
            <a:off x="8302752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668512" y="4133088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Отгрузка + акт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668512" y="444398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jo'natma + dalolatnoma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94360" y="5029200"/>
            <a:ext cx="1097280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4360" y="5029200"/>
            <a:ext cx="2103120" cy="1024128"/>
          </a:xfrm>
          <a:prstGeom prst="rect">
            <a:avLst/>
          </a:prstGeom>
          <a:solidFill>
            <a:srgbClr val="FCF2E2"/>
          </a:solidFill>
          <a:ln/>
        </p:spPr>
      </p:sp>
      <p:sp>
        <p:nvSpPr>
          <p:cNvPr id="58" name="Text 56"/>
          <p:cNvSpPr/>
          <p:nvPr/>
        </p:nvSpPr>
        <p:spPr>
          <a:xfrm>
            <a:off x="704088" y="519379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6A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Бухгалтерия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704088" y="557784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6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Buxgalteriya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251960" y="5212080"/>
            <a:ext cx="2286000" cy="658368"/>
          </a:xfrm>
          <a:prstGeom prst="rect">
            <a:avLst/>
          </a:prstGeom>
          <a:solidFill>
            <a:srgbClr val="FCF2E2"/>
          </a:solidFill>
          <a:ln w="9525">
            <a:solidFill>
              <a:srgbClr val="9A6A0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325112" y="5394960"/>
            <a:ext cx="292608" cy="292608"/>
          </a:xfrm>
          <a:prstGeom prst="ellipse">
            <a:avLst/>
          </a:prstGeom>
          <a:solidFill>
            <a:srgbClr val="9A6A0B"/>
          </a:solidFill>
          <a:ln/>
        </p:spPr>
      </p:sp>
      <p:sp>
        <p:nvSpPr>
          <p:cNvPr id="62" name="Text 60"/>
          <p:cNvSpPr/>
          <p:nvPr/>
        </p:nvSpPr>
        <p:spPr>
          <a:xfrm>
            <a:off x="4325112" y="5394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690872" y="526694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 (SI)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690872" y="557784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hisob-faktura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766560" y="5212080"/>
            <a:ext cx="2286000" cy="658368"/>
          </a:xfrm>
          <a:prstGeom prst="rect">
            <a:avLst/>
          </a:prstGeom>
          <a:solidFill>
            <a:srgbClr val="FCF2E2"/>
          </a:solidFill>
          <a:ln w="9525">
            <a:solidFill>
              <a:srgbClr val="9A6A0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839712" y="5394960"/>
            <a:ext cx="292608" cy="292608"/>
          </a:xfrm>
          <a:prstGeom prst="ellipse">
            <a:avLst/>
          </a:prstGeom>
          <a:solidFill>
            <a:srgbClr val="9A6A0B"/>
          </a:solidFill>
          <a:ln/>
        </p:spPr>
      </p:sp>
      <p:sp>
        <p:nvSpPr>
          <p:cNvPr id="67" name="Text 65"/>
          <p:cNvSpPr/>
          <p:nvPr/>
        </p:nvSpPr>
        <p:spPr>
          <a:xfrm>
            <a:off x="6839712" y="5394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205472" y="526694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· казначейство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7205472" y="557784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to'lov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9281160" y="5212080"/>
            <a:ext cx="2286000" cy="658368"/>
          </a:xfrm>
          <a:prstGeom prst="rect">
            <a:avLst/>
          </a:prstGeom>
          <a:solidFill>
            <a:srgbClr val="FCF2E2"/>
          </a:solidFill>
          <a:ln w="9525">
            <a:solidFill>
              <a:srgbClr val="9A6A0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354312" y="5394960"/>
            <a:ext cx="292608" cy="292608"/>
          </a:xfrm>
          <a:prstGeom prst="ellipse">
            <a:avLst/>
          </a:prstGeom>
          <a:solidFill>
            <a:srgbClr val="9A6A0B"/>
          </a:solidFill>
          <a:ln/>
        </p:spPr>
      </p:sp>
      <p:sp>
        <p:nvSpPr>
          <p:cNvPr id="72" name="Text 70"/>
          <p:cNvSpPr/>
          <p:nvPr/>
        </p:nvSpPr>
        <p:spPr>
          <a:xfrm>
            <a:off x="9354312" y="5394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9720072" y="526694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P&amp;L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9720072" y="557784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hisobotlar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9436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 идёт по номерам 1→10; передача между отделами видна на доске, ничего не передаётся «на словах».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Jarayon raqamlar bo'yicha boradi — og'zaki topshiriqlar yo'q.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0"/>
            <a:ext cx="12252960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20624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20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32918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Оргструктура и доступы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52728" y="8412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Tashkiliy tuzilma va kirish huquqlari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3544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Stabler · tender buyurtmalari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945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17720" y="1645920"/>
            <a:ext cx="2926080" cy="8686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88900" dist="25400" dir="8100000">
              <a:srgbClr val="1B2A4A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7556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Директор · Direktor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1031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картина: доска + отчёты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2514600"/>
            <a:ext cx="0" cy="36576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60220" y="2880360"/>
            <a:ext cx="8641080" cy="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60220" y="2880360"/>
            <a:ext cx="0" cy="41148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91840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8100000">
              <a:srgbClr val="1B2A4A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291840"/>
            <a:ext cx="2606040" cy="502920"/>
          </a:xfrm>
          <a:prstGeom prst="rect">
            <a:avLst/>
          </a:prstGeom>
          <a:solidFill>
            <a:srgbClr val="EFEAF8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291840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3E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Коммерция  ·  3 чел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60" y="3858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Tijorat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41330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тендеры · CRM · заказы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4617720"/>
            <a:ext cx="2331720" cy="329184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" y="46177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Stabler: CRM + Продажи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40580" y="2880360"/>
            <a:ext cx="0" cy="41148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37560" y="3291840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8100000">
              <a:srgbClr val="1B2A4A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37560" y="3291840"/>
            <a:ext cx="2606040" cy="502920"/>
          </a:xfrm>
          <a:prstGeom prst="rect">
            <a:avLst/>
          </a:prstGeom>
          <a:solidFill>
            <a:srgbClr val="E3ECFB"/>
          </a:solidFill>
          <a:ln/>
        </p:spPr>
      </p:sp>
      <p:sp>
        <p:nvSpPr>
          <p:cNvPr id="25" name="Text 23"/>
          <p:cNvSpPr/>
          <p:nvPr/>
        </p:nvSpPr>
        <p:spPr>
          <a:xfrm>
            <a:off x="3447288" y="3291840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Снабжение  ·  2 чел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474720" y="3858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Ta'minot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0" y="41330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закупки · таможня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0" y="4617720"/>
            <a:ext cx="2331720" cy="329184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29" name="Text 27"/>
          <p:cNvSpPr/>
          <p:nvPr/>
        </p:nvSpPr>
        <p:spPr>
          <a:xfrm>
            <a:off x="3557016" y="46177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Stabler: Закупки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520940" y="2880360"/>
            <a:ext cx="0" cy="41148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3291840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8100000">
              <a:srgbClr val="1B2A4A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3291840"/>
            <a:ext cx="2606040" cy="502920"/>
          </a:xfrm>
          <a:prstGeom prst="rect">
            <a:avLst/>
          </a:prstGeom>
          <a:solidFill>
            <a:srgbClr val="E1F0EA"/>
          </a:solidFill>
          <a:ln/>
        </p:spPr>
      </p:sp>
      <p:sp>
        <p:nvSpPr>
          <p:cNvPr id="33" name="Text 31"/>
          <p:cNvSpPr/>
          <p:nvPr/>
        </p:nvSpPr>
        <p:spPr>
          <a:xfrm>
            <a:off x="6327648" y="3291840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Склад · логистика  ·  2 чел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355080" y="3858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Ombor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55080" y="41330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приёмка · отгрузка · акты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55080" y="4617720"/>
            <a:ext cx="2331720" cy="329184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37" name="Text 35"/>
          <p:cNvSpPr/>
          <p:nvPr/>
        </p:nvSpPr>
        <p:spPr>
          <a:xfrm>
            <a:off x="6437376" y="46177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Stabler: Склад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401300" y="2880360"/>
            <a:ext cx="0" cy="41148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98280" y="3291840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8100000">
              <a:srgbClr val="1B2A4A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098280" y="3291840"/>
            <a:ext cx="2606040" cy="502920"/>
          </a:xfrm>
          <a:prstGeom prst="rect">
            <a:avLst/>
          </a:prstGeom>
          <a:solidFill>
            <a:srgbClr val="FCF2E2"/>
          </a:solidFill>
          <a:ln/>
        </p:spPr>
      </p:sp>
      <p:sp>
        <p:nvSpPr>
          <p:cNvPr id="41" name="Text 39"/>
          <p:cNvSpPr/>
          <p:nvPr/>
        </p:nvSpPr>
        <p:spPr>
          <a:xfrm>
            <a:off x="9208008" y="3291840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6A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Финансы  ·  2 чел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235440" y="3858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Moliya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235440" y="41330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счета · оплаты · отчёты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235440" y="4617720"/>
            <a:ext cx="2331720" cy="329184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45" name="Text 43"/>
          <p:cNvSpPr/>
          <p:nvPr/>
        </p:nvSpPr>
        <p:spPr>
          <a:xfrm>
            <a:off x="9317736" y="46177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Stabler: Деньги + Отчёты</a:t>
            </a:r>
            <a:endParaRPr lang="en-US" sz="1000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577840"/>
            <a:ext cx="310896" cy="310896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1051560" y="555955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Оргструктура = права доступа: каждый отдел видит свой модуль, маржу — только руководство.  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bo'lim o'z modulini ko'radi, marjani — faqat rahbariyat.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45720"/>
            <a:ext cx="12252960" cy="69494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" y="0"/>
            <a:ext cx="12252960" cy="128016"/>
          </a:xfrm>
          <a:prstGeom prst="rect">
            <a:avLst/>
          </a:prstGeom>
          <a:solidFill>
            <a:srgbClr val="E893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Внедрение — три шага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Joriy etish — uch qadam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3474720" cy="2103120"/>
          </a:xfrm>
          <a:prstGeom prst="rect">
            <a:avLst/>
          </a:prstGeom>
          <a:solidFill>
            <a:srgbClr val="24365E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783080"/>
            <a:ext cx="3474720" cy="82296"/>
          </a:xfrm>
          <a:prstGeom prst="rect">
            <a:avLst/>
          </a:prstGeom>
          <a:solidFill>
            <a:srgbClr val="E8930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93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Стадии и каналы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под ваши процессы — 1 неделя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43814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Bosqichlar va kanallar — 1 hafta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43400" y="1783080"/>
            <a:ext cx="3474720" cy="2103120"/>
          </a:xfrm>
          <a:prstGeom prst="rect">
            <a:avLst/>
          </a:prstGeom>
          <a:solidFill>
            <a:srgbClr val="24365E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3400" y="1783080"/>
            <a:ext cx="3474720" cy="82296"/>
          </a:xfrm>
          <a:prstGeom prst="rect">
            <a:avLst/>
          </a:prstGeom>
          <a:solidFill>
            <a:srgbClr val="E8930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93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57200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Telegram-бот и формы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заявок — 1–2 недели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0" y="343814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Telegram-bot va formalar — 1–2 hafta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92440" y="1783080"/>
            <a:ext cx="3474720" cy="2103120"/>
          </a:xfrm>
          <a:prstGeom prst="rect">
            <a:avLst/>
          </a:prstGeom>
          <a:solidFill>
            <a:srgbClr val="24365E"/>
          </a:solidFill>
          <a:ln/>
        </p:spPr>
      </p:sp>
      <p:sp>
        <p:nvSpPr>
          <p:cNvPr id="19" name="Shape 17"/>
          <p:cNvSpPr/>
          <p:nvPr/>
        </p:nvSpPr>
        <p:spPr>
          <a:xfrm>
            <a:off x="8092440" y="1783080"/>
            <a:ext cx="3474720" cy="82296"/>
          </a:xfrm>
          <a:prstGeom prst="rect">
            <a:avLst/>
          </a:prstGeom>
          <a:solidFill>
            <a:srgbClr val="E8930C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93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32104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Команда на доске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104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в системе со 2-й недели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21040" y="343814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doskada — 2-haftadan</a:t>
            </a:r>
            <a:endParaRPr lang="en-US" sz="10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590288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234440" y="45262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Каждый тендер — от заявки до прибыли — в одном окне.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123444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tender — arizadan foydagacha — bitta oynada.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94360" y="6217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Stabler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Stabler — Управление тендерными заказами</dc:title>
  <dc:subject>PptxGenJS Presentation</dc:subject>
  <dc:creator>Stabler</dc:creator>
  <cp:lastModifiedBy>Stabler</cp:lastModifiedBy>
  <cp:revision>1</cp:revision>
  <dcterms:created xsi:type="dcterms:W3CDTF">2026-06-12T11:29:11Z</dcterms:created>
  <dcterms:modified xsi:type="dcterms:W3CDTF">2026-06-12T11:29:11Z</dcterms:modified>
</cp:coreProperties>
</file>